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quil-lollipop-f1f8e9.netlify.ap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m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0"/>
            <a:ext cx="711403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11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53035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300" b="1">
                <a:solidFill>
                  <a:srgbClr val="FFFFFF"/>
                </a:solidFill>
                <a:latin typeface="Aptos"/>
              </a:rPr>
              <a:t>WASTE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5669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100" b="1">
                <a:solidFill>
                  <a:srgbClr val="F9C130"/>
                </a:solidFill>
                <a:latin typeface="Aptos"/>
              </a:rPr>
              <a:t>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87168"/>
            <a:ext cx="5120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E5F8EE"/>
                </a:solidFill>
                <a:latin typeface="Aptos"/>
              </a:rPr>
              <a:t>SMART • CLEAN • SUSTAINABLE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63240"/>
            <a:ext cx="47091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A simple website that helps people
understand waste segregation,
recycling and responsible disposal.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800600"/>
            <a:ext cx="2240280" cy="566928"/>
          </a:xfrm>
          <a:prstGeom prst="roundRect">
            <a:avLst/>
          </a:prstGeom>
          <a:solidFill>
            <a:srgbClr val="1E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882896"/>
            <a:ext cx="2240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74243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Presented by: Mohan Sai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544068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1362A"/>
                </a:solidFill>
                <a:latin typeface="Aptos"/>
              </a:rPr>
              <a:t>01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875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96861"/>
                </a:solidFill>
                <a:latin typeface="Aptos"/>
              </a:rPr>
              <a:t>A digital awareness solution for a cleaner community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572000" cy="4526280"/>
          </a:xfrm>
          <a:prstGeom prst="roundRect">
            <a:avLst/>
          </a:prstGeom>
          <a:solidFill>
            <a:srgbClr val="E5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3931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1362A"/>
                </a:solidFill>
                <a:latin typeface="Aptos"/>
              </a:rPr>
              <a:t>What is waste management?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37947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1362A"/>
                </a:solidFill>
                <a:latin typeface="Aptos"/>
              </a:rPr>
              <a:t>It is the safe collection, separation,
treatment, recycling and disposal of waste.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337560"/>
            <a:ext cx="347472" cy="347472"/>
          </a:xfrm>
          <a:prstGeom prst="ellipse">
            <a:avLst/>
          </a:prstGeom>
          <a:solidFill>
            <a:srgbClr val="1E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3346703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328416"/>
            <a:ext cx="32918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1362A"/>
                </a:solidFill>
                <a:latin typeface="Aptos"/>
              </a:rPr>
              <a:t>Segregate waste correctly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867911"/>
            <a:ext cx="347472" cy="347472"/>
          </a:xfrm>
          <a:prstGeom prst="ellipse">
            <a:avLst/>
          </a:prstGeom>
          <a:solidFill>
            <a:srgbClr val="1A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3877055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58768"/>
            <a:ext cx="32918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1362A"/>
                </a:solidFill>
                <a:latin typeface="Aptos"/>
              </a:rPr>
              <a:t>Reduce pollution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98264"/>
            <a:ext cx="347472" cy="347472"/>
          </a:xfrm>
          <a:prstGeom prst="ellipse">
            <a:avLst/>
          </a:prstGeom>
          <a:solidFill>
            <a:srgbClr val="337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4407407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89120"/>
            <a:ext cx="32918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1362A"/>
                </a:solidFill>
                <a:latin typeface="Aptos"/>
              </a:rPr>
              <a:t>Recover useful materials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28616"/>
            <a:ext cx="347472" cy="347472"/>
          </a:xfrm>
          <a:prstGeom prst="ellipse">
            <a:avLst/>
          </a:prstGeom>
          <a:solidFill>
            <a:srgbClr val="EE7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4937759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19472"/>
            <a:ext cx="32918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1362A"/>
                </a:solidFill>
                <a:latin typeface="Aptos"/>
              </a:rPr>
              <a:t>Build public awareness</a:t>
            </a:r>
          </a:p>
        </p:txBody>
      </p:sp>
      <p:pic>
        <p:nvPicPr>
          <p:cNvPr id="20" name="Picture 19" descr="wm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17320"/>
            <a:ext cx="6126480" cy="45262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806440" y="5330952"/>
            <a:ext cx="5486400" cy="411480"/>
          </a:xfrm>
          <a:prstGeom prst="roundRect">
            <a:avLst/>
          </a:prstGeom>
          <a:solidFill>
            <a:srgbClr val="11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97880" y="5376672"/>
            <a:ext cx="5303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A clean city starts with a responsible citizen.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4023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596861"/>
                </a:solidFill>
                <a:latin typeface="Aptos"/>
              </a:rPr>
              <a:t>WASTE MANAGEMENT WEBSITE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28232"/>
            <a:ext cx="457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59686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1362A"/>
                </a:solidFill>
                <a:latin typeface="Aptos"/>
              </a:rPr>
              <a:t>02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875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96861"/>
                </a:solidFill>
                <a:latin typeface="Aptos"/>
              </a:rPr>
              <a:t>Why a simple awareness website can help</a:t>
            </a:r>
          </a:p>
        </p:txBody>
      </p:sp>
      <p:pic>
        <p:nvPicPr>
          <p:cNvPr id="5" name="Picture 4" descr="wm_wor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62356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1417320"/>
            <a:ext cx="521208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20840" y="1737360"/>
            <a:ext cx="438912" cy="438912"/>
          </a:xfrm>
          <a:prstGeom prst="ellipse">
            <a:avLst/>
          </a:prstGeom>
          <a:solidFill>
            <a:srgbClr val="D54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801368"/>
            <a:ext cx="43891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719072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1362A"/>
                </a:solidFill>
                <a:latin typeface="Aptos"/>
              </a:rPr>
              <a:t>Mixed waste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048255"/>
            <a:ext cx="35661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96861"/>
                </a:solidFill>
                <a:latin typeface="Aptos"/>
              </a:rPr>
              <a:t>Wet and dry materials can get mixed.</a:t>
            </a:r>
          </a:p>
        </p:txBody>
      </p:sp>
      <p:sp>
        <p:nvSpPr>
          <p:cNvPr id="11" name="Oval 10"/>
          <p:cNvSpPr/>
          <p:nvPr/>
        </p:nvSpPr>
        <p:spPr>
          <a:xfrm>
            <a:off x="6720840" y="2679191"/>
            <a:ext cx="438912" cy="438912"/>
          </a:xfrm>
          <a:prstGeom prst="ellipse">
            <a:avLst/>
          </a:prstGeom>
          <a:solidFill>
            <a:srgbClr val="EE7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743199"/>
            <a:ext cx="43891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660903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1362A"/>
                </a:solidFill>
                <a:latin typeface="Aptos"/>
              </a:rPr>
              <a:t>Low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990087"/>
            <a:ext cx="35661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96861"/>
                </a:solidFill>
                <a:latin typeface="Aptos"/>
              </a:rPr>
              <a:t>People may not know the correct bin.</a:t>
            </a:r>
          </a:p>
        </p:txBody>
      </p:sp>
      <p:sp>
        <p:nvSpPr>
          <p:cNvPr id="15" name="Oval 14"/>
          <p:cNvSpPr/>
          <p:nvPr/>
        </p:nvSpPr>
        <p:spPr>
          <a:xfrm>
            <a:off x="6720840" y="3621024"/>
            <a:ext cx="438912" cy="438912"/>
          </a:xfrm>
          <a:prstGeom prst="ellipse">
            <a:avLst/>
          </a:prstGeom>
          <a:solidFill>
            <a:srgbClr val="337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3685032"/>
            <a:ext cx="43891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602736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1362A"/>
                </a:solidFill>
                <a:latin typeface="Aptos"/>
              </a:rPr>
              <a:t>Pollution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931920"/>
            <a:ext cx="35661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96861"/>
                </a:solidFill>
                <a:latin typeface="Aptos"/>
              </a:rPr>
              <a:t>Improper disposal can harm the environment.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4562856"/>
            <a:ext cx="438912" cy="438912"/>
          </a:xfrm>
          <a:prstGeom prst="ellipse">
            <a:avLst/>
          </a:prstGeom>
          <a:solidFill>
            <a:srgbClr val="1E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4626864"/>
            <a:ext cx="43891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544568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1362A"/>
                </a:solidFill>
                <a:latin typeface="Aptos"/>
              </a:rPr>
              <a:t>Lost resources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873752"/>
            <a:ext cx="35661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96861"/>
                </a:solidFill>
                <a:latin typeface="Aptos"/>
              </a:rPr>
              <a:t>Recyclables are wasted when mixed.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4023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596861"/>
                </a:solidFill>
                <a:latin typeface="Aptos"/>
              </a:rPr>
              <a:t>WASTE MANAGEMENT WEBSITE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28232"/>
            <a:ext cx="457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59686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1362A"/>
                </a:solidFill>
                <a:latin typeface="Aptos"/>
              </a:rPr>
              <a:t>03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875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96861"/>
                </a:solidFill>
                <a:latin typeface="Aptos"/>
              </a:rPr>
              <a:t>A clean, colorful and easy-to-use website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728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475488"/>
          </a:xfrm>
          <a:prstGeom prst="roundRect">
            <a:avLst/>
          </a:prstGeom>
          <a:solidFill>
            <a:srgbClr val="11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792224"/>
            <a:ext cx="146304" cy="146304"/>
          </a:xfrm>
          <a:prstGeom prst="ellipse">
            <a:avLst/>
          </a:prstGeom>
          <a:solidFill>
            <a:srgbClr val="D54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43584" y="1792224"/>
            <a:ext cx="146304" cy="146304"/>
          </a:xfrm>
          <a:prstGeom prst="ellipse">
            <a:avLst/>
          </a:prstGeom>
          <a:solidFill>
            <a:srgbClr val="F9C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81328" y="1792224"/>
            <a:ext cx="146304" cy="146304"/>
          </a:xfrm>
          <a:prstGeom prst="ellipse">
            <a:avLst/>
          </a:prstGeom>
          <a:solidFill>
            <a:srgbClr val="1E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1737360"/>
            <a:ext cx="36576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EcoClean  |  Waste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28216"/>
            <a:ext cx="43891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Home   Waste Types   Tips   Contact</a:t>
            </a:r>
          </a:p>
        </p:txBody>
      </p:sp>
      <p:pic>
        <p:nvPicPr>
          <p:cNvPr id="12" name="Picture 11" descr="wm_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886200" cy="2926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12080" y="2423160"/>
            <a:ext cx="44805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1362A"/>
                </a:solidFill>
                <a:latin typeface="Aptos"/>
              </a:rPr>
              <a:t>Manage waste.
Protect tomorrow.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401568"/>
            <a:ext cx="4297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596861"/>
                </a:solidFill>
                <a:latin typeface="Aptos"/>
              </a:rPr>
              <a:t>The website explains waste types, segregation,
recycling tips and responsible disposal.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4434840"/>
            <a:ext cx="960120" cy="502920"/>
          </a:xfrm>
          <a:prstGeom prst="roundRect">
            <a:avLst/>
          </a:prstGeom>
          <a:solidFill>
            <a:srgbClr val="1E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4517136"/>
            <a:ext cx="960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434840"/>
            <a:ext cx="960120" cy="502920"/>
          </a:xfrm>
          <a:prstGeom prst="roundRect">
            <a:avLst/>
          </a:prstGeom>
          <a:solidFill>
            <a:srgbClr val="337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517136"/>
            <a:ext cx="960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434840"/>
            <a:ext cx="960120" cy="502920"/>
          </a:xfrm>
          <a:prstGeom prst="roundRect">
            <a:avLst/>
          </a:prstGeom>
          <a:solidFill>
            <a:srgbClr val="EE7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79" y="4517136"/>
            <a:ext cx="960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E-WASTE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5257800"/>
            <a:ext cx="1828800" cy="438912"/>
          </a:xfrm>
          <a:prstGeom prst="roundRect">
            <a:avLst/>
          </a:prstGeom>
          <a:solidFill>
            <a:srgbClr val="1E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80" y="533095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LEARN MORE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4023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596861"/>
                </a:solidFill>
                <a:latin typeface="Aptos"/>
              </a:rPr>
              <a:t>WASTE MANAGEMENT WEBSITE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28232"/>
            <a:ext cx="457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59686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1362A"/>
                </a:solidFill>
                <a:latin typeface="Aptos"/>
              </a:rPr>
              <a:t>04 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875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96861"/>
                </a:solidFill>
                <a:latin typeface="Aptos"/>
              </a:rPr>
              <a:t>Simple modules with clear visual guidance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37560" cy="178308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645920"/>
            <a:ext cx="594360" cy="594360"/>
          </a:xfrm>
          <a:prstGeom prst="ellipse">
            <a:avLst/>
          </a:prstGeom>
          <a:solidFill>
            <a:srgbClr val="1E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594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67335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50" b="1">
                <a:solidFill>
                  <a:srgbClr val="11362A"/>
                </a:solidFill>
                <a:latin typeface="Aptos"/>
              </a:rPr>
              <a:t>Home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130552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96861"/>
                </a:solidFill>
                <a:latin typeface="Aptos"/>
              </a:rPr>
              <a:t>Project introduction and awareness.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78308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1645920"/>
            <a:ext cx="594360" cy="594360"/>
          </a:xfrm>
          <a:prstGeom prst="ellipse">
            <a:avLst/>
          </a:prstGeom>
          <a:solidFill>
            <a:srgbClr val="337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746504"/>
            <a:ext cx="594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2392" y="167335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50" b="1">
                <a:solidFill>
                  <a:srgbClr val="11362A"/>
                </a:solidFill>
                <a:latin typeface="Aptos"/>
              </a:rPr>
              <a:t>Waste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2130552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96861"/>
                </a:solidFill>
                <a:latin typeface="Aptos"/>
              </a:rPr>
              <a:t>Wet, dry, recyclable and e-waste.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337560" cy="178308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58200" y="1645920"/>
            <a:ext cx="594360" cy="594360"/>
          </a:xfrm>
          <a:prstGeom prst="ellipse">
            <a:avLst/>
          </a:prstGeom>
          <a:solidFill>
            <a:srgbClr val="EE7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746504"/>
            <a:ext cx="594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167335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50" b="1">
                <a:solidFill>
                  <a:srgbClr val="11362A"/>
                </a:solidFill>
                <a:latin typeface="Aptos"/>
              </a:rPr>
              <a:t>Segregation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130552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96861"/>
                </a:solidFill>
                <a:latin typeface="Aptos"/>
              </a:rPr>
              <a:t>Know which waste goes where.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3337560" cy="178308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3794760"/>
            <a:ext cx="594360" cy="594360"/>
          </a:xfrm>
          <a:prstGeom prst="ellipse">
            <a:avLst/>
          </a:prstGeom>
          <a:solidFill>
            <a:srgbClr val="1A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895344"/>
            <a:ext cx="594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2219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50" b="1">
                <a:solidFill>
                  <a:srgbClr val="11362A"/>
                </a:solidFill>
                <a:latin typeface="Aptos"/>
              </a:rPr>
              <a:t>Recycling Tips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279392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96861"/>
                </a:solidFill>
                <a:latin typeface="Aptos"/>
              </a:rPr>
              <a:t>Reduce, reuse and recycle ideas.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566160"/>
            <a:ext cx="3337560" cy="178308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63440" y="3794760"/>
            <a:ext cx="594360" cy="594360"/>
          </a:xfrm>
          <a:prstGeom prst="ellipse">
            <a:avLst/>
          </a:prstGeom>
          <a:solidFill>
            <a:srgbClr val="D54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895344"/>
            <a:ext cx="594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2392" y="382219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50" b="1">
                <a:solidFill>
                  <a:srgbClr val="11362A"/>
                </a:solidFill>
                <a:latin typeface="Aptos"/>
              </a:rPr>
              <a:t>Awareness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2392" y="4279392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96861"/>
                </a:solidFill>
                <a:latin typeface="Aptos"/>
              </a:rPr>
              <a:t>Encourages cleaner daily habits.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566160"/>
            <a:ext cx="3337560" cy="178308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458200" y="3794760"/>
            <a:ext cx="594360" cy="594360"/>
          </a:xfrm>
          <a:prstGeom prst="ellipse">
            <a:avLst/>
          </a:prstGeom>
          <a:solidFill>
            <a:srgbClr val="11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58200" y="3895344"/>
            <a:ext cx="594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7152" y="382219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50" b="1">
                <a:solidFill>
                  <a:srgbClr val="11362A"/>
                </a:solidFill>
                <a:latin typeface="Aptos"/>
              </a:rPr>
              <a:t>Contact / Help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7152" y="4279392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96861"/>
                </a:solidFill>
                <a:latin typeface="Aptos"/>
              </a:rPr>
              <a:t>Feedback and user questions.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55664"/>
            <a:ext cx="4023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596861"/>
                </a:solidFill>
                <a:latin typeface="Aptos"/>
              </a:rPr>
              <a:t>WASTE MANAGEMENT WEBSITE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28232"/>
            <a:ext cx="457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59686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1362A"/>
                </a:solidFill>
                <a:latin typeface="Aptos"/>
              </a:rPr>
              <a:t>05  Waste Segregation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875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96861"/>
                </a:solidFill>
                <a:latin typeface="Aptos"/>
              </a:rPr>
              <a:t>The right waste in the right stream</a:t>
            </a:r>
          </a:p>
        </p:txBody>
      </p:sp>
      <p:pic>
        <p:nvPicPr>
          <p:cNvPr id="5" name="Picture 4" descr="wm_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30352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417320"/>
            <a:ext cx="530352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4572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E975C"/>
                </a:solidFill>
                <a:latin typeface="Aptos"/>
              </a:rPr>
              <a:t>SORT SMART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423160"/>
            <a:ext cx="4480560" cy="493776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29400" y="2423160"/>
            <a:ext cx="146304" cy="493776"/>
          </a:xfrm>
          <a:prstGeom prst="rect">
            <a:avLst/>
          </a:prstGeom>
          <a:solidFill>
            <a:srgbClr val="1E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31152" y="2505456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1E975C"/>
                </a:solidFill>
                <a:latin typeface="Aptos"/>
              </a:rPr>
              <a:t>WET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505456"/>
            <a:ext cx="2651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1362A"/>
                </a:solidFill>
                <a:latin typeface="Aptos"/>
              </a:rPr>
              <a:t>Food • Leaves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081528"/>
            <a:ext cx="4480560" cy="493776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3081528"/>
            <a:ext cx="146304" cy="493776"/>
          </a:xfrm>
          <a:prstGeom prst="rect">
            <a:avLst/>
          </a:prstGeom>
          <a:solidFill>
            <a:srgbClr val="337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31152" y="3163824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3377C2"/>
                </a:solidFill>
                <a:latin typeface="Aptos"/>
              </a:rPr>
              <a:t>DRY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163824"/>
            <a:ext cx="2651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1362A"/>
                </a:solidFill>
                <a:latin typeface="Aptos"/>
              </a:rPr>
              <a:t>Paper • Plastic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739896"/>
            <a:ext cx="4480560" cy="493776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3739896"/>
            <a:ext cx="146304" cy="493776"/>
          </a:xfrm>
          <a:prstGeom prst="rect">
            <a:avLst/>
          </a:prstGeom>
          <a:solidFill>
            <a:srgbClr val="EE7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31152" y="3822191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EE7E3B"/>
                </a:solidFill>
                <a:latin typeface="Aptos"/>
              </a:rPr>
              <a:t>E-WASTE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22191"/>
            <a:ext cx="2651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1362A"/>
                </a:solidFill>
                <a:latin typeface="Aptos"/>
              </a:rPr>
              <a:t>Phones • Batteries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4398264"/>
            <a:ext cx="4480560" cy="493776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29400" y="4398264"/>
            <a:ext cx="146304" cy="493776"/>
          </a:xfrm>
          <a:prstGeom prst="rect">
            <a:avLst/>
          </a:prstGeom>
          <a:solidFill>
            <a:srgbClr val="D54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31152" y="4480560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D54B4E"/>
                </a:solidFill>
                <a:latin typeface="Aptos"/>
              </a:rPr>
              <a:t>SPECIAL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480560"/>
            <a:ext cx="2651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1362A"/>
                </a:solidFill>
                <a:latin typeface="Aptos"/>
              </a:rPr>
              <a:t>Handle safely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257800"/>
            <a:ext cx="4389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596861"/>
                </a:solidFill>
                <a:latin typeface="Aptos"/>
              </a:rPr>
              <a:t>Segregation makes collection and recycling easier.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4023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596861"/>
                </a:solidFill>
                <a:latin typeface="Aptos"/>
              </a:rPr>
              <a:t>WASTE MANAGEMENT WEBSITE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28232"/>
            <a:ext cx="457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59686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1362A"/>
                </a:solidFill>
                <a:latin typeface="Aptos"/>
              </a:rPr>
              <a:t>06 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875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96861"/>
                </a:solidFill>
                <a:latin typeface="Aptos"/>
              </a:rPr>
              <a:t>How the website connects awareness to action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1097280" cy="1097280"/>
          </a:xfrm>
          <a:prstGeom prst="ellipse">
            <a:avLst/>
          </a:prstGeom>
          <a:solidFill>
            <a:srgbClr val="1E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121408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182112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11362A"/>
                </a:solidFill>
                <a:latin typeface="Aptos"/>
              </a:rPr>
              <a:t>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" y="3566160"/>
            <a:ext cx="187451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596861"/>
                </a:solidFill>
                <a:latin typeface="Aptos"/>
              </a:rPr>
              <a:t>User opens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75688"/>
            <a:ext cx="594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1A9A91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834639" y="1828800"/>
            <a:ext cx="1097280" cy="1097280"/>
          </a:xfrm>
          <a:prstGeom prst="ellipse">
            <a:avLst/>
          </a:prstGeom>
          <a:solidFill>
            <a:srgbClr val="337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39" y="2121408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3182112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11362A"/>
                </a:solidFill>
                <a:latin typeface="Aptos"/>
              </a:rPr>
              <a:t>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1" y="3566160"/>
            <a:ext cx="187451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596861"/>
                </a:solidFill>
                <a:latin typeface="Aptos"/>
              </a:rPr>
              <a:t>Checks waste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75688"/>
            <a:ext cx="594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1A9A91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5166359" y="1828800"/>
            <a:ext cx="1097280" cy="1097280"/>
          </a:xfrm>
          <a:prstGeom prst="ellipse">
            <a:avLst/>
          </a:prstGeom>
          <a:solidFill>
            <a:srgbClr val="EE7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59" y="2121408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182112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11362A"/>
                </a:solidFill>
                <a:latin typeface="Aptos"/>
              </a:rPr>
              <a:t>SORT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3566160"/>
            <a:ext cx="187451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596861"/>
                </a:solidFill>
                <a:latin typeface="Aptos"/>
              </a:rPr>
              <a:t>Uses correct bin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75688"/>
            <a:ext cx="594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1A9A91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1828800"/>
            <a:ext cx="1097280" cy="1097280"/>
          </a:xfrm>
          <a:prstGeom prst="ellipse">
            <a:avLst/>
          </a:prstGeom>
          <a:solidFill>
            <a:srgbClr val="1A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79" y="2121408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3182112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11362A"/>
                </a:solidFill>
                <a:latin typeface="Aptos"/>
              </a:rPr>
              <a:t>COLLECT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1" y="3566160"/>
            <a:ext cx="187451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596861"/>
                </a:solidFill>
                <a:latin typeface="Aptos"/>
              </a:rPr>
              <a:t>Waste is collected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59" y="2075688"/>
            <a:ext cx="594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1A9A91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9829800" y="1828800"/>
            <a:ext cx="1097280" cy="1097280"/>
          </a:xfrm>
          <a:prstGeom prst="ellipse">
            <a:avLst/>
          </a:prstGeom>
          <a:solidFill>
            <a:srgbClr val="11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29800" y="2121408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182112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11362A"/>
                </a:solidFill>
                <a:latin typeface="Aptos"/>
              </a:rPr>
              <a:t>RECYCLE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3566160"/>
            <a:ext cx="187451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596861"/>
                </a:solidFill>
                <a:latin typeface="Aptos"/>
              </a:rPr>
              <a:t>Useful material recovered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4800600"/>
            <a:ext cx="84124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11680" y="4937760"/>
            <a:ext cx="8138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E975C"/>
                </a:solidFill>
                <a:latin typeface="Aptos"/>
              </a:rPr>
              <a:t>Awareness  →  Segregation  →  Collection  →  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4023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596861"/>
                </a:solidFill>
                <a:latin typeface="Aptos"/>
              </a:rPr>
              <a:t>WASTE MANAGEMENT WEBSITE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28232"/>
            <a:ext cx="457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59686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1362A"/>
                </a:solidFill>
                <a:latin typeface="Aptos"/>
              </a:rPr>
              <a:t>07  Technology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875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96861"/>
                </a:solidFill>
                <a:latin typeface="Aptos"/>
              </a:rPr>
              <a:t>Simple tools keep the project easy to build and maintain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29200" cy="155448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28800"/>
            <a:ext cx="658368" cy="658368"/>
          </a:xfrm>
          <a:prstGeom prst="ellipse">
            <a:avLst/>
          </a:prstGeom>
          <a:solidFill>
            <a:srgbClr val="EE7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1737360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1362A"/>
                </a:solidFill>
                <a:latin typeface="Aptos"/>
              </a:rPr>
              <a:t>HTML5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221991"/>
            <a:ext cx="3474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96861"/>
                </a:solidFill>
                <a:latin typeface="Aptos"/>
              </a:rPr>
              <a:t>Structure &amp;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029200" cy="155448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79" y="1828800"/>
            <a:ext cx="658368" cy="658368"/>
          </a:xfrm>
          <a:prstGeom prst="ellipse">
            <a:avLst/>
          </a:prstGeom>
          <a:solidFill>
            <a:srgbClr val="337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1737360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1362A"/>
                </a:solidFill>
                <a:latin typeface="Aptos"/>
              </a:rPr>
              <a:t>CSS3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21991"/>
            <a:ext cx="3474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96861"/>
                </a:solidFill>
                <a:latin typeface="Aptos"/>
              </a:rPr>
              <a:t>Colors, layout &amp; responsive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5029200" cy="155448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5840" y="3840480"/>
            <a:ext cx="658368" cy="658368"/>
          </a:xfrm>
          <a:prstGeom prst="ellipse">
            <a:avLst/>
          </a:prstGeom>
          <a:solidFill>
            <a:srgbClr val="F9C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240" y="3749039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1362A"/>
                </a:solidFill>
                <a:latin typeface="Aptos"/>
              </a:rP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233672"/>
            <a:ext cx="3474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96861"/>
                </a:solidFill>
                <a:latin typeface="Aptos"/>
              </a:rPr>
              <a:t>Buttons and interaction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5029200" cy="155448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3679" y="3840480"/>
            <a:ext cx="658368" cy="658368"/>
          </a:xfrm>
          <a:prstGeom prst="ellipse">
            <a:avLst/>
          </a:prstGeom>
          <a:solidFill>
            <a:srgbClr val="1E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3749039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1362A"/>
                </a:solidFill>
                <a:latin typeface="Aptos"/>
              </a:rPr>
              <a:t>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233672"/>
            <a:ext cx="3474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96861"/>
                </a:solidFill>
                <a:latin typeface="Aptos"/>
              </a:rPr>
              <a:t>Optional live data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486400"/>
            <a:ext cx="8503920" cy="566928"/>
          </a:xfrm>
          <a:prstGeom prst="roundRect">
            <a:avLst/>
          </a:prstGeom>
          <a:solidFill>
            <a:srgbClr val="E5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65960" y="557784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E975C"/>
                </a:solidFill>
                <a:latin typeface="Aptos"/>
              </a:rPr>
              <a:t>Goal: simple • attractive • responsive • easy to understand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4023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596861"/>
                </a:solidFill>
                <a:latin typeface="Aptos"/>
              </a:rPr>
              <a:t>WASTE MANAGEMENT WEBSITE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28232"/>
            <a:ext cx="457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59686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m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4864"/>
            <a:ext cx="6812280" cy="6858000"/>
          </a:xfrm>
          <a:prstGeom prst="rect">
            <a:avLst/>
          </a:prstGeom>
          <a:solidFill>
            <a:srgbClr val="11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5486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 dirty="0">
                <a:solidFill>
                  <a:srgbClr val="FFFFFF"/>
                </a:solidFill>
                <a:latin typeface="Aptos"/>
              </a:rPr>
              <a:t>08  Benefits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34440"/>
            <a:ext cx="5120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 dirty="0">
                <a:solidFill>
                  <a:srgbClr val="E5F8EE"/>
                </a:solidFill>
                <a:latin typeface="Aptos"/>
              </a:rPr>
              <a:t>A small digital solution can encourage
big environmental habits.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514600"/>
            <a:ext cx="338328" cy="338328"/>
          </a:xfrm>
          <a:prstGeom prst="ellipse">
            <a:avLst/>
          </a:prstGeom>
          <a:solidFill>
            <a:srgbClr val="1E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542032"/>
            <a:ext cx="201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Cleaner surroundings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044952"/>
            <a:ext cx="338328" cy="338328"/>
          </a:xfrm>
          <a:prstGeom prst="ellipse">
            <a:avLst/>
          </a:prstGeom>
          <a:solidFill>
            <a:srgbClr val="337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3072384"/>
            <a:ext cx="201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35808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Better segregation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575304"/>
            <a:ext cx="338328" cy="338328"/>
          </a:xfrm>
          <a:prstGeom prst="ellipse">
            <a:avLst/>
          </a:prstGeom>
          <a:solidFill>
            <a:srgbClr val="F9C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602736"/>
            <a:ext cx="201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66160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More recycling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105656"/>
            <a:ext cx="338328" cy="338328"/>
          </a:xfrm>
          <a:prstGeom prst="ellipse">
            <a:avLst/>
          </a:prstGeom>
          <a:solidFill>
            <a:srgbClr val="EE7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133088"/>
            <a:ext cx="201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2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Less landfill waste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636008"/>
            <a:ext cx="338328" cy="338328"/>
          </a:xfrm>
          <a:prstGeom prst="ellipse">
            <a:avLst/>
          </a:prstGeom>
          <a:solidFill>
            <a:srgbClr val="1A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663440"/>
            <a:ext cx="2011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26864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Public awareness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440680"/>
            <a:ext cx="5029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dirty="0">
                <a:solidFill>
                  <a:srgbClr val="F9C130"/>
                </a:solidFill>
                <a:latin typeface="Aptos"/>
              </a:rPr>
              <a:t>REDUCE  •  REUSE  •  RECYCLE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760720"/>
            <a:ext cx="4138377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IN" sz="2400" b="1" dirty="0">
                <a:solidFill>
                  <a:srgbClr val="FFFFFF"/>
                </a:solidFill>
                <a:latin typeface="Aptos"/>
              </a:rPr>
              <a:t>THANK YOU      </a:t>
            </a:r>
          </a:p>
          <a:p>
            <a:r>
              <a:rPr lang="en-IN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https://tranquil-lollipop-f1f8e9.netlify.app</a:t>
            </a:r>
            <a:endParaRPr lang="en-IN" sz="2400" b="1" dirty="0">
              <a:solidFill>
                <a:srgbClr val="0070C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444</Words>
  <Application>Microsoft Office PowerPoint</Application>
  <PresentationFormat>Widescreen</PresentationFormat>
  <Paragraphs>138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Aarohan</cp:lastModifiedBy>
  <cp:revision>9</cp:revision>
  <dcterms:created xsi:type="dcterms:W3CDTF">2013-01-27T09:14:16Z</dcterms:created>
  <dcterms:modified xsi:type="dcterms:W3CDTF">2026-10-05T07:11:35Z</dcterms:modified>
  <cp:category/>
</cp:coreProperties>
</file>